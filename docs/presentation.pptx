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lt1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/>
              <a:t>Eldercare Multi-Agent Coordination Prototype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A production-style prototype for safer eldercare and chronic-care coordination</a:t>
            </a:r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lvl="0" indent="-228600">
              <a:buChar char="•"/>
            </a:pPr>
            <a:r>
              <a:rPr lang="en-US" sz="2200"/>
              <a:t>Combines multimodal event intake, shared patient state, specialized agents, and mandatory risk review.</a:t>
            </a:r>
          </a:p>
          <a:p>
            <a:pPr marL="342900" lvl="0" indent="-228600">
              <a:buChar char="•"/>
            </a:pPr>
            <a:r>
              <a:rPr lang="en-US" sz="2200"/>
              <a:t>Built as a full-stack demo with FastAPI backend, React/Vite dashboard, JWT auth, and seeded personas.</a:t>
            </a:r>
          </a:p>
          <a:p>
            <a:pPr marL="342900" lvl="0" indent="-228600">
              <a:buChar char="•"/>
            </a:pPr>
            <a:r>
              <a:rPr lang="en-US" sz="2200"/>
              <a:t>Designed to demonstrate workflow safety, traceability, and role-aware information release.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/>
              <a:t>Why This Project Matters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Care coordination often breaks when information is fragmented or unsafe to share</a:t>
            </a:r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lvl="0" indent="-228600">
              <a:buChar char="•"/>
            </a:pPr>
            <a:r>
              <a:rPr lang="en-US" sz="2200"/>
              <a:t>Patient signals come from many sources: physiological, behavioral, ambient, and conversational events.</a:t>
            </a:r>
          </a:p>
          <a:p>
            <a:pPr marL="342900" lvl="0" indent="-228600">
              <a:buChar char="•"/>
            </a:pPr>
            <a:r>
              <a:rPr lang="en-US" sz="2200"/>
              <a:t>Different stakeholders need different outputs: patients, caregivers, reviewers, nurses, and clinicians.</a:t>
            </a:r>
          </a:p>
          <a:p>
            <a:pPr marL="342900" lvl="0" indent="-228600">
              <a:buChar char="•"/>
            </a:pPr>
            <a:r>
              <a:rPr lang="en-US" sz="2200"/>
              <a:t>Naive automation can create privacy, tone, escalation, and clinical-risk failures.</a:t>
            </a:r>
          </a:p>
          <a:p>
            <a:pPr marL="342900" lvl="0" indent="-228600">
              <a:buChar char="•"/>
            </a:pPr>
            <a:r>
              <a:rPr lang="en-US" sz="2200"/>
              <a:t>This prototype focuses on governance first, not just generation quality.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/>
              <a:t>Core Workflow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Every generated proposal passes through a centralized safety and governance loop</a:t>
            </a:r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lvl="0" indent="-228600">
              <a:buChar char="•"/>
            </a:pPr>
            <a:r>
              <a:rPr lang="en-US" sz="2200"/>
              <a:t>Ingest event -&gt; normalize data -&gt; rebuild patient-state projection.</a:t>
            </a:r>
          </a:p>
          <a:p>
            <a:pPr marL="342900" lvl="0" indent="-228600">
              <a:buChar char="•"/>
            </a:pPr>
            <a:r>
              <a:rPr lang="en-US" sz="2200"/>
              <a:t>Run orchestration to select specialized agents and generate proposal drafts.</a:t>
            </a:r>
          </a:p>
          <a:p>
            <a:pPr marL="342900" lvl="0" indent="-228600">
              <a:buChar char="•"/>
            </a:pPr>
            <a:r>
              <a:rPr lang="en-US" sz="2200"/>
              <a:t>Send each proposal to the RiskReviewAgent for APPROVE, REVISE, REROUTE, ESCALATE, or REJECT_AND_REGENERATE.</a:t>
            </a:r>
          </a:p>
          <a:p>
            <a:pPr marL="342900" lvl="0" indent="-228600">
              <a:buChar char="•"/>
            </a:pPr>
            <a:r>
              <a:rPr lang="en-US" sz="2200"/>
              <a:t>Persist outputs as delivery artifacts, escalations, human-review cases, and audit logs.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/>
              <a:t>System Architecture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Full-stack prototype with deterministic mode and optional live OpenAI integration</a:t>
            </a:r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lvl="0" indent="-228600">
              <a:buChar char="•"/>
            </a:pPr>
            <a:r>
              <a:rPr lang="en-US" sz="2200"/>
              <a:t>Backend: FastAPI, SQLAlchemy, Alembic, PostgreSQL-ready config, SQLite-friendly tests.</a:t>
            </a:r>
          </a:p>
          <a:p>
            <a:pPr marL="342900" lvl="0" indent="-228600">
              <a:buChar char="•"/>
            </a:pPr>
            <a:r>
              <a:rPr lang="en-US" sz="2200"/>
              <a:t>Frontend: React 19, Vite, TypeScript operations dashboard with separate workspaces by role.</a:t>
            </a:r>
          </a:p>
          <a:p>
            <a:pPr marL="342900" lvl="0" indent="-228600">
              <a:buChar char="•"/>
            </a:pPr>
            <a:r>
              <a:rPr lang="en-US" sz="2200"/>
              <a:t>AI layer: OpenAI Responses API adapter plus deterministic mock path for stable testing.</a:t>
            </a:r>
          </a:p>
          <a:p>
            <a:pPr marL="342900" lvl="0" indent="-228600">
              <a:buChar char="•"/>
            </a:pPr>
            <a:r>
              <a:rPr lang="en-US" sz="2200"/>
              <a:t>Infra: Dockerized Postgres for local development and seeded demo data for fast evaluation.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/>
              <a:t>Safety and Governance Features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The value of the prototype is in controlled decision-making, not raw model output</a:t>
            </a:r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lvl="0" indent="-228600">
              <a:buChar char="•"/>
            </a:pPr>
            <a:r>
              <a:rPr lang="en-US" sz="2200"/>
              <a:t>Mandatory centralized review before any output can be delivered.</a:t>
            </a:r>
          </a:p>
          <a:p>
            <a:pPr marL="342900" lvl="0" indent="-228600">
              <a:buChar char="•"/>
            </a:pPr>
            <a:r>
              <a:rPr lang="en-US" sz="2200"/>
              <a:t>Checks around consent, recipient scope, tone, uncertainty, and escalation handling.</a:t>
            </a:r>
          </a:p>
          <a:p>
            <a:pPr marL="342900" lvl="0" indent="-228600">
              <a:buChar char="•"/>
            </a:pPr>
            <a:r>
              <a:rPr lang="en-US" sz="2200"/>
              <a:t>Rewrite and regeneration loops create new immutable proposal versions.</a:t>
            </a:r>
          </a:p>
          <a:p>
            <a:pPr marL="342900" lvl="0" indent="-228600">
              <a:buChar char="•"/>
            </a:pPr>
            <a:r>
              <a:rPr lang="en-US" sz="2200"/>
              <a:t>Human-review queue and full audit trail support accountability and oversight.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540000" y="420000"/>
            <a:ext cx="180000" cy="5700000"/>
          </a:xfrm>
          <a:prstGeom prst="rect">
            <a:avLst/>
          </a:prstGeom>
          <a:solidFill>
            <a:srgbClr val="B85C38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3" name="Panel"/>
          <p:cNvSpPr/>
          <p:nvPr/>
        </p:nvSpPr>
        <p:spPr>
          <a:xfrm>
            <a:off x="1080000" y="660000"/>
            <a:ext cx="10300000" cy="5200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0D8CC"/>
            </a:solidFill>
          </a:ln>
        </p:spPr>
        <p:txBody>
          <a:bodyPr/>
          <a:lstStyle/>
          <a:p>
            <a:endParaRPr lang="en-CN"/>
          </a:p>
        </p:txBody>
      </p:sp>
      <p:sp>
        <p:nvSpPr>
          <p:cNvPr id="4" name="Title"/>
          <p:cNvSpPr txBox="1"/>
          <p:nvPr/>
        </p:nvSpPr>
        <p:spPr>
          <a:xfrm>
            <a:off x="1500000" y="960000"/>
            <a:ext cx="90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/>
              <a:t>Demo Value and Use Cases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500000" y="170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Useful for academic demos, product concept validation, and workflow experimentation</a:t>
            </a:r>
          </a:p>
        </p:txBody>
      </p:sp>
      <p:sp>
        <p:nvSpPr>
          <p:cNvPr id="6" name="Bullet Box"/>
          <p:cNvSpPr txBox="1"/>
          <p:nvPr/>
        </p:nvSpPr>
        <p:spPr>
          <a:xfrm>
            <a:off x="1500000" y="2450000"/>
            <a:ext cx="8600000" cy="2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lvl="0" indent="-228600">
              <a:buChar char="•"/>
            </a:pPr>
            <a:r>
              <a:rPr lang="en-US" sz="2200"/>
              <a:t>Demonstrates missed medication follow-up, caregiver task routing, fall escalation, and risky-language regeneration.</a:t>
            </a:r>
          </a:p>
          <a:p>
            <a:pPr marL="342900" lvl="0" indent="-228600">
              <a:buChar char="•"/>
            </a:pPr>
            <a:r>
              <a:rPr lang="en-US" sz="2200"/>
              <a:t>Shows how multi-agent systems can be constrained for healthcare-adjacent scenarios.</a:t>
            </a:r>
          </a:p>
          <a:p>
            <a:pPr marL="342900" lvl="0" indent="-228600">
              <a:buChar char="•"/>
            </a:pPr>
            <a:r>
              <a:rPr lang="en-US" sz="2200"/>
              <a:t>Highlights a practical path from event ingestion to reviewed, role-specific recommendations.</a:t>
            </a:r>
          </a:p>
          <a:p>
            <a:pPr marL="342900" lvl="0" indent="-228600">
              <a:buChar char="•"/>
            </a:pPr>
            <a:r>
              <a:rPr lang="en-US" sz="2200"/>
              <a:t>Strong fit for innovation challenge storytelling because it combines AI orchestration with safety architecture.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5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400"/>
              <a:t>Innovation Challenge Project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1E2A39"/>
      </a:dk1>
      <a:lt1>
        <a:srgbClr val="FFFFFF"/>
      </a:lt1>
      <a:dk2>
        <a:srgbClr val="324A5F"/>
      </a:dk2>
      <a:lt2>
        <a:srgbClr val="F7F3EC"/>
      </a:lt2>
      <a:accent1>
        <a:srgbClr val="B85C38"/>
      </a:accent1>
      <a:accent2>
        <a:srgbClr val="4F6D7A"/>
      </a:accent2>
      <a:accent3>
        <a:srgbClr val="769FCD"/>
      </a:accent3>
      <a:accent4>
        <a:srgbClr val="D9BF77"/>
      </a:accent4>
      <a:accent5>
        <a:srgbClr val="8DAA91"/>
      </a:accent5>
      <a:accent6>
        <a:srgbClr val="C17C74"/>
      </a:accent6>
      <a:hlink>
        <a:srgbClr val="0563C1"/>
      </a:hlink>
      <a:folHlink>
        <a:srgbClr val="954F72"/>
      </a:folHlink>
    </a:clrScheme>
    <a:fontScheme name="Custom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ustom Forma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3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Microsoft Macintosh PowerPoint</Application>
  <PresentationFormat>Widescreen</PresentationFormat>
  <Paragraphs>41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 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Eldercare Multi-Agent Coordination Prototype</dc:title>
  <dc:creator>OpenAI Codex</dc:creator>
  <cp:lastModifiedBy>Yu Changyang</cp:lastModifiedBy>
  <cp:revision>1</cp:revision>
  <dcterms:created xsi:type="dcterms:W3CDTF">2026-03-18T00:00:00Z</dcterms:created>
  <dcterms:modified xsi:type="dcterms:W3CDTF">2026-03-18T09:54:28Z</dcterms:modified>
</cp:coreProperties>
</file>